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2E8F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2E8F0"/>
                </a:solidFill>
                <a:latin typeface="Arial"/>
              </a:rPr>
              <a:t>Temperatures par zone (donnees reelles)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Atelier</c:v>
                </c:pt>
              </c:strCache>
            </c:strRef>
          </c:tx>
          <c:spPr>
            <a:solidFill>
              <a:srgbClr val="F43F5E"/>
            </a:solidFill>
            <a:ln w="25400" cap="flat">
              <a:solidFill>
                <a:srgbClr val="F43F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3F5E"/>
              </a:solidFill>
              <a:ln w="9525" cap="flat">
                <a:solidFill>
                  <a:srgbClr val="F43F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-30m</c:v>
                  </c:pt>
                  <c:pt idx="1">
                    <c:v>-25m</c:v>
                  </c:pt>
                  <c:pt idx="2">
                    <c:v>-20m</c:v>
                  </c:pt>
                  <c:pt idx="3">
                    <c:v>-15m</c:v>
                  </c:pt>
                  <c:pt idx="4">
                    <c:v>-10m</c:v>
                  </c:pt>
                  <c:pt idx="5">
                    <c:v>-5m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40.9</c:v>
                </c:pt>
                <c:pt idx="1">
                  <c:v>41.3</c:v>
                </c:pt>
                <c:pt idx="2">
                  <c:v>41.1</c:v>
                </c:pt>
                <c:pt idx="3">
                  <c:v>40.7</c:v>
                </c:pt>
                <c:pt idx="4">
                  <c:v>41.2</c:v>
                </c:pt>
                <c:pt idx="5">
                  <c:v>41.2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Local Elec.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-30m</c:v>
                  </c:pt>
                  <c:pt idx="1">
                    <c:v>-25m</c:v>
                  </c:pt>
                  <c:pt idx="2">
                    <c:v>-20m</c:v>
                  </c:pt>
                  <c:pt idx="3">
                    <c:v>-15m</c:v>
                  </c:pt>
                  <c:pt idx="4">
                    <c:v>-10m</c:v>
                  </c:pt>
                  <c:pt idx="5">
                    <c:v>-5m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33.6</c:v>
                </c:pt>
                <c:pt idx="1">
                  <c:v>33.3</c:v>
                </c:pt>
                <c:pt idx="2">
                  <c:v>33.2</c:v>
                </c:pt>
                <c:pt idx="3">
                  <c:v>32.8</c:v>
                </c:pt>
                <c:pt idx="4">
                  <c:v>33.1</c:v>
                </c:pt>
                <c:pt idx="5">
                  <c:v>33.5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Salle Serveur</c:v>
                </c:pt>
              </c:strCache>
            </c:strRef>
          </c:tx>
          <c:spPr>
            <a:solidFill>
              <a:srgbClr val="06B6D4"/>
            </a:solidFill>
            <a:ln w="25400" cap="flat">
              <a:solidFill>
                <a:srgbClr val="06B6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-30m</c:v>
                  </c:pt>
                  <c:pt idx="1">
                    <c:v>-25m</c:v>
                  </c:pt>
                  <c:pt idx="2">
                    <c:v>-20m</c:v>
                  </c:pt>
                  <c:pt idx="3">
                    <c:v>-15m</c:v>
                  </c:pt>
                  <c:pt idx="4">
                    <c:v>-10m</c:v>
                  </c:pt>
                  <c:pt idx="5">
                    <c:v>-5m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32.1</c:v>
                </c:pt>
                <c:pt idx="1">
                  <c:v>31.8</c:v>
                </c:pt>
                <c:pt idx="2">
                  <c:v>31.8</c:v>
                </c:pt>
                <c:pt idx="3">
                  <c:v>32</c:v>
                </c:pt>
                <c:pt idx="4">
                  <c:v>32.1</c:v>
                </c:pt>
                <c:pt idx="5">
                  <c:v>32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4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2D4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E2E8F0"/>
                </a:solidFill>
                <a:latin typeface="Arial"/>
              </a:defRPr>
            </a:pPr>
            <a:r>
              <a:rPr sz="900" b="0" i="0" u="none" strike="noStrike">
                <a:solidFill>
                  <a:srgbClr val="E2E8F0"/>
                </a:solidFill>
                <a:latin typeface="Arial"/>
              </a:rPr>
              <a:t>Humidite Salle Serveur (donnees reelles)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Humidite Salle Serveur (%)</c:v>
                </c:pt>
              </c:strCache>
            </c:strRef>
          </c:tx>
          <c:spPr>
            <a:solidFill>
              <a:srgbClr val="06B6D4"/>
            </a:solidFill>
            <a:ln w="25400" cap="flat">
              <a:solidFill>
                <a:srgbClr val="06B6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-30m</c:v>
                  </c:pt>
                  <c:pt idx="1">
                    <c:v>-25m</c:v>
                  </c:pt>
                  <c:pt idx="2">
                    <c:v>-20m</c:v>
                  </c:pt>
                  <c:pt idx="3">
                    <c:v>-15m</c:v>
                  </c:pt>
                  <c:pt idx="4">
                    <c:v>-10m</c:v>
                  </c:pt>
                  <c:pt idx="5">
                    <c:v>-5m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51.4</c:v>
                </c:pt>
                <c:pt idx="1">
                  <c:v>50.8</c:v>
                </c:pt>
                <c:pt idx="2">
                  <c:v>51.2</c:v>
                </c:pt>
                <c:pt idx="3">
                  <c:v>51.2</c:v>
                </c:pt>
                <c:pt idx="4">
                  <c:v>51.5</c:v>
                </c:pt>
                <c:pt idx="5">
                  <c:v>50.1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4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D4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E2E8F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E2E8F0"/>
                </a:solidFill>
                <a:latin typeface="Arial"/>
              </a:rPr>
              <a:t>Vibration Atelier (donnees reelles)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Vibration (mm/s)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-30m</c:v>
                  </c:pt>
                  <c:pt idx="1">
                    <c:v>-25m</c:v>
                  </c:pt>
                  <c:pt idx="2">
                    <c:v>-20m</c:v>
                  </c:pt>
                  <c:pt idx="3">
                    <c:v>-15m</c:v>
                  </c:pt>
                  <c:pt idx="4">
                    <c:v>-10m</c:v>
                  </c:pt>
                  <c:pt idx="5">
                    <c:v>-5m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7.7</c:v>
                </c:pt>
                <c:pt idx="1">
                  <c:v>7.6</c:v>
                </c:pt>
                <c:pt idx="2">
                  <c:v>7.6</c:v>
                </c:pt>
                <c:pt idx="3">
                  <c:v>7.7</c:v>
                </c:pt>
                <c:pt idx="4">
                  <c:v>7.6</c:v>
                </c:pt>
                <c:pt idx="5">
                  <c:v>7.7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4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D4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E2E8F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E2E8F0"/>
                </a:solidFill>
                <a:latin typeface="Arial"/>
              </a:rPr>
              <a:t>Luminosite Local Elec. (donnees reelles)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Luminosite (lux)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-30m</c:v>
                  </c:pt>
                  <c:pt idx="1">
                    <c:v>-25m</c:v>
                  </c:pt>
                  <c:pt idx="2">
                    <c:v>-20m</c:v>
                  </c:pt>
                  <c:pt idx="3">
                    <c:v>-15m</c:v>
                  </c:pt>
                  <c:pt idx="4">
                    <c:v>-10m</c:v>
                  </c:pt>
                  <c:pt idx="5">
                    <c:v>-5m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134.9</c:v>
                </c:pt>
                <c:pt idx="1">
                  <c:v>126.5</c:v>
                </c:pt>
                <c:pt idx="2">
                  <c:v>118.7</c:v>
                </c:pt>
                <c:pt idx="3">
                  <c:v>118.4</c:v>
                </c:pt>
                <c:pt idx="4">
                  <c:v>106.8</c:v>
                </c:pt>
                <c:pt idx="5">
                  <c:v>112.8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4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D4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2560320"/>
          </a:xfrm>
          <a:prstGeom prst="rect">
            <a:avLst/>
          </a:prstGeom>
          <a:solidFill>
            <a:srgbClr val="122A45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IoT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INDUSTRIELLE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monitoring temps reel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0" y="3291840"/>
            <a:ext cx="36576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IoT 2026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Satom IT &amp; Learning Solutions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051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Problematique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3533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3533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 l'Equipe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6550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6550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Edge-Fog-Cloud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1956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1956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Technologique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2585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258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MQTT &amp; Flux de Donnees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560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2560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des Capteurs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2862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28620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Regles d'Automatisation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1638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31638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 (TLS + Auth + ACL)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4655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34655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Dashboard Grafana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3767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3767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Node-RED Flows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4069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406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InfluxDB Data Explorer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43708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71600" y="43708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&amp; Alertes declenchees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46725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71600" y="46725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Difficultes &amp; Solutions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49743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71600" y="49743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Evolutions Possibles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" y="5276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71600" y="5276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PROBLEMATIQUE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182880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industrielle de taille moyenne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supervision temps reel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detectes tardivement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Couts eleves d'arrets non planifies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182880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64008" cy="18288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5087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une plateforme IoT complete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Superviser 3 zones critiques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et actions automatiques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Deploiement conteneurise reproductible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2715768" cy="1554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00400"/>
            <a:ext cx="2715768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83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+ 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Serveur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+ Humidite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Freq: 5s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55848" y="3200400"/>
            <a:ext cx="2715768" cy="1554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55848" y="3200400"/>
            <a:ext cx="271576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3630168" y="3383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+ 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70248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Technique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30168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+ Temperature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30168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Freq: 2s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54496" y="3200400"/>
            <a:ext cx="2715768" cy="1554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54496" y="3200400"/>
            <a:ext cx="2715768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7" name="Text 25"/>
          <p:cNvSpPr/>
          <p:nvPr/>
        </p:nvSpPr>
        <p:spPr>
          <a:xfrm>
            <a:off x="6528816" y="3383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+ 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68896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Electrique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28816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Luminosite + Temperature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28816" y="4251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Freq: 10s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 L'EQUIPE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expertises complementaires pour une solution complete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667512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6675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07592"/>
            <a:ext cx="640080" cy="502920"/>
          </a:xfrm>
          <a:prstGeom prst="rect">
            <a:avLst/>
          </a:prstGeom>
          <a:solidFill>
            <a:srgbClr val="0891B2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07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17320" y="12893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Projet / Architecte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15270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generale, conception de l'architecture Edge-Fog-Cloud, respect du cahier des charges, arbitrage des choix techniques.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0" y="1307592"/>
            <a:ext cx="3017520" cy="502920"/>
          </a:xfrm>
          <a:prstGeom prst="rect">
            <a:avLst/>
          </a:prstGeom>
          <a:solidFill>
            <a:srgbClr val="0B1929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13258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77840" y="1508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Docker Compose, Documentation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1993392"/>
            <a:ext cx="8229600" cy="66751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993392"/>
            <a:ext cx="64008" cy="66751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066544"/>
            <a:ext cx="640080" cy="502920"/>
          </a:xfrm>
          <a:prstGeom prst="rect">
            <a:avLst/>
          </a:prstGeom>
          <a:solidFill>
            <a:srgbClr val="2DD4BF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0665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20482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Ingenieur IoT / Capteurs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17320" y="2286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des capteurs (3 zones, 6 mesures), implementation de la derive progressive, spikes et coupures aleatoires.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0" y="2066544"/>
            <a:ext cx="3017520" cy="502920"/>
          </a:xfrm>
          <a:prstGeom prst="rect">
            <a:avLst/>
          </a:prstGeom>
          <a:solidFill>
            <a:srgbClr val="0B1929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208483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77840" y="22677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Node-RED Simulation, Logique metier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752344"/>
            <a:ext cx="8229600" cy="667512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752344"/>
            <a:ext cx="64008" cy="6675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2825496"/>
            <a:ext cx="640080" cy="502920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82549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17320" y="2807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Ingenieur Reseau / Communication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17320" y="3044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Mosquitto MQTT, TLS 1.2, certificats X.509, ACL par topic, authentification par mot de passe.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0" y="2825496"/>
            <a:ext cx="3017520" cy="502920"/>
          </a:xfrm>
          <a:prstGeom prst="rect">
            <a:avLst/>
          </a:prstGeom>
          <a:solidFill>
            <a:srgbClr val="0B1929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577840" y="284378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77840" y="30266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TLS, mosquitto.conf, acl.conf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511296"/>
            <a:ext cx="8229600" cy="66751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511296"/>
            <a:ext cx="64008" cy="66751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" y="3584448"/>
            <a:ext cx="640080" cy="502920"/>
          </a:xfrm>
          <a:prstGeom prst="rect">
            <a:avLst/>
          </a:prstGeom>
          <a:solidFill>
            <a:srgbClr val="06B6D4">
              <a:alpha val="2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58444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417320" y="3566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Ingenieur Donnees / Stockage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17320" y="38039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InfluxDB 2.7, formatage des donnees en Line Protocol, bucket, tags, fields, retention 30 jours.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486400" y="3584448"/>
            <a:ext cx="3017520" cy="502920"/>
          </a:xfrm>
          <a:prstGeom prst="rect">
            <a:avLst/>
          </a:prstGeom>
          <a:solidFill>
            <a:srgbClr val="0B1929">
              <a:alpha val="7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577840" y="360273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: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577840" y="37856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Ingestion, Requetes Flux, Data Explorer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4270248"/>
            <a:ext cx="8229600" cy="667512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" y="4270248"/>
            <a:ext cx="64008" cy="66751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4" name="Shape 42"/>
          <p:cNvSpPr/>
          <p:nvPr/>
        </p:nvSpPr>
        <p:spPr>
          <a:xfrm>
            <a:off x="640080" y="4343400"/>
            <a:ext cx="640080" cy="502920"/>
          </a:xfrm>
          <a:prstGeom prst="rect">
            <a:avLst/>
          </a:prstGeom>
          <a:solidFill>
            <a:srgbClr val="F43F5E">
              <a:alpha val="2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343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417320" y="4325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Ingenieur Visualisation / Automatisation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417320" y="45628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Grafana (16+ panels), 6 regles d'alerte Node-RED avec 2 niveaux, provisioning as code.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486400" y="4343400"/>
            <a:ext cx="3017520" cy="502920"/>
          </a:xfrm>
          <a:prstGeom prst="rect">
            <a:avLst/>
          </a:prstGeom>
          <a:solidFill>
            <a:srgbClr val="0B1929">
              <a:alpha val="7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577840" y="436168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: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577840" y="4544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iot-supervision.json, Flows Automatisation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EDGE-FOG-CLOUD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1A3550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- Supervision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:3000  |  Dashboards temps reel  |  Gauges &amp; seuils  |  Alertes visuelles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Flux queries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1371600"/>
          </a:xfrm>
          <a:prstGeom prst="rect">
            <a:avLst/>
          </a:prstGeom>
          <a:solidFill>
            <a:srgbClr val="1A3550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94560"/>
            <a:ext cx="82296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- Plateforme Centrale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697480"/>
            <a:ext cx="2377440" cy="777240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69748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7157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 :1883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926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MQTT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:8883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ACL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0" y="2697480"/>
            <a:ext cx="2377440" cy="777240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18" name="Shape 16"/>
          <p:cNvSpPr/>
          <p:nvPr/>
        </p:nvSpPr>
        <p:spPr>
          <a:xfrm>
            <a:off x="3474720" y="2697480"/>
            <a:ext cx="54864" cy="7772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3611880" y="27157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 :1880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11880" y="2926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regles alerte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Formatage data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2697480"/>
            <a:ext cx="2377440" cy="777240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2697480"/>
            <a:ext cx="54864" cy="777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27157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  :8086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2926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temporelle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Bucket: sensors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 30j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MQTT QoS 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886200"/>
            <a:ext cx="8229600" cy="1097280"/>
          </a:xfrm>
          <a:prstGeom prst="rect">
            <a:avLst/>
          </a:prstGeom>
          <a:solidFill>
            <a:srgbClr val="1A3550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886200"/>
            <a:ext cx="82296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- Zones Supervisees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" y="4343400"/>
            <a:ext cx="2377440" cy="548640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3616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Serveur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" y="4544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+ Hum | 5s  |  T&gt;28C, H&gt;70%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474720" y="4343400"/>
            <a:ext cx="2377440" cy="548640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33" name="Text 31"/>
          <p:cNvSpPr/>
          <p:nvPr/>
        </p:nvSpPr>
        <p:spPr>
          <a:xfrm>
            <a:off x="3566160" y="43616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Tech.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66160" y="4544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 + Temp | 2s  |  V&gt;5mm/s, T&gt;40C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217920" y="4343400"/>
            <a:ext cx="2377440" cy="548640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43616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Elec.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4544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 + Temp | 10s  |  L&lt;50lux, T&gt;35C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TECHNOLOGIQUE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Mosquitto 2.0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37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MQTT  |  Port :1883 / :8883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1430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leger des messages IoT via le protocole MQTT. Supporte TLS 1.2, authentification par mot de passe et ACL par topic.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8229600" cy="86868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29968"/>
            <a:ext cx="64008" cy="86868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75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3.1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23500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 |  Port :1880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212140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low-code pour la simulation des capteurs, le formatage des donnees et l'execution des 6 regles d'automatisation.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08376"/>
            <a:ext cx="8229600" cy="86868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08376"/>
            <a:ext cx="64008" cy="8686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54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 2.7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33284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donnees  |  Port :8086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309981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donnees temporelle optimisee pour les series IoT. Langage Flux, compression native, retention configurable a 30 jours.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86784"/>
            <a:ext cx="8229600" cy="86868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86784"/>
            <a:ext cx="64008" cy="8686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325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10.2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4306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 |  Port :3000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407822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professionnels temps reel avec 16+ panels : stat, time series, gauges. Rafraichissement automatique toutes les 5s.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 |  Deploiement reproductible en une seule commande : docker compose up -d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MQTT &amp; FLUX DE DONNEES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2286000" cy="36576"/>
          </a:xfrm>
          <a:prstGeom prst="rect">
            <a:avLst/>
          </a:prstGeom>
          <a:solidFill>
            <a:srgbClr val="0891B2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3931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57200"/>
                <a:gridCol w="1645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iot/salle-serveur/data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Donnees temp + humidite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iot/atelier/data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Donnees vibration + temp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iot/local-electrique/data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Donnees luminosite + temp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alertes/{zone}/{type}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Alertes WARNING / CRITIQUE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actions/{actionneur}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Commandes automatiques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754880" y="1005840"/>
            <a:ext cx="3931920" cy="329184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donnees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0" y="1508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simules (Node-RED)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0" y="1801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JSON via MQTT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0" y="20939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Mosquitto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0" y="23865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iot/{zone}/data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029200" y="2679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(Ingestion + Regles)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0" y="2971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Format [fields, tags]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029200" y="3264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 (bucket: sensors)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0" y="35570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Flux queries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29200" y="38496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(Dashboard 16+ panels)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834640"/>
            <a:ext cx="3931920" cy="192024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2834640"/>
            <a:ext cx="64008" cy="19202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MQTT ?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1520" y="320040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leger : ideal pour capteurs IoT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/ Subscribe : decouplage producteur / consommateur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1 (donnees) + QoS 2 (alertes critiques)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natif sur port 8883 pour le chiffrement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iot/+/data capture toutes les zones en une seule subscription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DES CAPTEURS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731520"/>
                <a:gridCol w="2011680"/>
                <a:gridCol w="20116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Capteurs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Salle Serveur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Temp, Humidite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T:24C, H:45%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+0.005/cycle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Atelier Tech.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Vibration, Temp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V:2.5mm/s, T:35C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+0.003/cycle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Elec.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Luminosite, Temp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L:200lux, T:30C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+0.004/cycle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 realistes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926080"/>
            <a:ext cx="1920240" cy="137160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2926080"/>
            <a:ext cx="19202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Bruit aleatoire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naturelle des mesures a chaque lecture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60320" y="2926080"/>
            <a:ext cx="1920240" cy="137160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0320" y="2926080"/>
            <a:ext cx="19202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269748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progressive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69748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de degradation (climatisation, roulements...)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2926080"/>
            <a:ext cx="1920240" cy="137160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2926080"/>
            <a:ext cx="1920240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 aleatoires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0060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de chance de vibration extreme en atelier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766560" y="2926080"/>
            <a:ext cx="1920240" cy="137160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766560" y="2926080"/>
            <a:ext cx="192024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1" name="Text 18"/>
          <p:cNvSpPr/>
          <p:nvPr/>
        </p:nvSpPr>
        <p:spPr>
          <a:xfrm>
            <a:off x="690372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Coupures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0372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de chance de luminosite quasi-nulle (ampoule HS)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4434840"/>
            <a:ext cx="82296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44805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drift = Math.min(count * 0.005, 8);  let temp = 24 + (Math.random() * 5 - 2.5) + drift;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REGLES D'AUTOMATISATION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regles | 2 niveaux WARNING &amp; CRITIQUE | Notifications Telegram + Email implementees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371600"/>
                <a:gridCol w="1828800"/>
                <a:gridCol w="201168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Salle Serveur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 &gt; 28C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Ventilation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W:28 / C:32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Salle Serveur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Humidite &gt; 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Deshumidificateur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W:70 / C:85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Atelier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Vibration &gt; 5.0mm/s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Arret machine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W:5.0 / C:7.0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Atelier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 &gt; 40C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Alerte surchauffe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W:40 / C:45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Elec.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Luminosite &lt; 50 lux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Eclairage auto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W:50 / C:20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Elec.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 &gt; 35C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Alerte armoire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W:35 / C:40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 declenchement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4114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In (subscription)  →  Switch (condition seuil)  →  Function (alerte + action)  →  MQTT Out (alertes/ + actions/)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2 pour les alertes (exactement une fois)  |  QoS 1 pour les actions (au moins une fois)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686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multicouche pour la protection des communications IoT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150876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64008" cy="1508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TLS 1.2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6916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MQTT chiffrees sur le port 8883.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X.509 auto-signes (CA + serveur + client)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Subject Alternative Names (SAN).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3931920" cy="150876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80160"/>
            <a:ext cx="64008" cy="1508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6916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anonyme desactive (allow_anonymous false).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de mots de passe hashes.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 dedie : iotuser.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931920" cy="150876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71800"/>
            <a:ext cx="64008" cy="15087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(Controle d'acces)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383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par topic et par utilisateur.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iotuser : readwrite sur iot/#, alertes/#, actions/#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en lecture seule sur $SYS/#.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3931920" cy="150876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971800"/>
            <a:ext cx="64008" cy="150876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&amp; Secrets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3383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Reseau Docker bridge dedie (iot-supervision-network).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externalises dans .env (non commite).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API pour InfluxDB.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LIVE : DASHBOARD GRAFANA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0" y="182880"/>
            <a:ext cx="201168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182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http://localhost:3000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77724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777240"/>
            <a:ext cx="2926080" cy="256032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60720" y="777240"/>
            <a:ext cx="292608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868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actuelles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1170432"/>
            <a:ext cx="2560320" cy="292608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11" name="Text 8"/>
          <p:cNvSpPr/>
          <p:nvPr/>
        </p:nvSpPr>
        <p:spPr>
          <a:xfrm>
            <a:off x="5989320" y="1179576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 Salle Serveur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7315200" y="11795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32.0 C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89320" y="131673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seuil: 28C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5943600" y="1508760"/>
            <a:ext cx="2560320" cy="29260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5" name="Text 12"/>
          <p:cNvSpPr/>
          <p:nvPr/>
        </p:nvSpPr>
        <p:spPr>
          <a:xfrm>
            <a:off x="5989320" y="151790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Humidite Salle Serveur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7315200" y="1517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50.1 %H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89320" y="1655064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seuil: 70%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5943600" y="1847088"/>
            <a:ext cx="2560320" cy="292608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19" name="Text 16"/>
          <p:cNvSpPr/>
          <p:nvPr/>
        </p:nvSpPr>
        <p:spPr>
          <a:xfrm>
            <a:off x="5989320" y="185623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Atelier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7315200" y="18562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 mm/s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89320" y="1993392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seuil: 5.0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5943600" y="2185416"/>
            <a:ext cx="2560320" cy="292608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23" name="Text 20"/>
          <p:cNvSpPr/>
          <p:nvPr/>
        </p:nvSpPr>
        <p:spPr>
          <a:xfrm>
            <a:off x="5989320" y="219456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 Atelier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731520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41.2 C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89320" y="2331720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seuil: 40C</a:t>
            </a:r>
            <a:endParaRPr lang="en-US" sz="600" dirty="0"/>
          </a:p>
        </p:txBody>
      </p:sp>
      <p:sp>
        <p:nvSpPr>
          <p:cNvPr id="26" name="Shape 23"/>
          <p:cNvSpPr/>
          <p:nvPr/>
        </p:nvSpPr>
        <p:spPr>
          <a:xfrm>
            <a:off x="5943600" y="2523744"/>
            <a:ext cx="2560320" cy="29260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27" name="Text 24"/>
          <p:cNvSpPr/>
          <p:nvPr/>
        </p:nvSpPr>
        <p:spPr>
          <a:xfrm>
            <a:off x="5989320" y="253288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Luminosite Local Elec.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7315200" y="25328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112.8 lux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989320" y="267004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seuil: &lt;50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5943600" y="2862072"/>
            <a:ext cx="2560320" cy="29260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1" name="Text 28"/>
          <p:cNvSpPr/>
          <p:nvPr/>
        </p:nvSpPr>
        <p:spPr>
          <a:xfrm>
            <a:off x="5989320" y="2871216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 Local Elec.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7315200" y="28712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33.5 C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989320" y="300837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seuil: 35C</a:t>
            </a:r>
            <a:endParaRPr lang="en-US" sz="600" dirty="0"/>
          </a:p>
        </p:txBody>
      </p:sp>
      <p:sp>
        <p:nvSpPr>
          <p:cNvPr id="34" name="Shape 31"/>
          <p:cNvSpPr/>
          <p:nvPr/>
        </p:nvSpPr>
        <p:spPr>
          <a:xfrm>
            <a:off x="457200" y="3520440"/>
            <a:ext cx="8229600" cy="14173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57200" y="3520440"/>
            <a:ext cx="82296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6" name="Text 33"/>
          <p:cNvSpPr/>
          <p:nvPr/>
        </p:nvSpPr>
        <p:spPr>
          <a:xfrm>
            <a:off x="73152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DE DEMONSTRATION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40080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/ Grafana2026Secure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31520" y="393192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Ouvrir http://localhost:3000 et naviguer vers le dashboard IoT Supervision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Montrer la Vue Globale : 6 stat panels avec codes couleur (vert = OK, rouge = alerte)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Scroller vers les Time Series : observer la derive progressive des temperatures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Montrer les Gauges en bas : visuellement les niveaux critiques (aiguille dans le rouge)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Zoomer sur un graphe (cliquer-glisser) pour montrer les details, puis revenir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: PANELS &amp; ALERTES VISUELLES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685800"/>
            <a:ext cx="2286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1234440" cy="82296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326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 SS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28.6 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914400"/>
            <a:ext cx="1234440" cy="82296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9326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Hum. SS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28800" y="1143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45.5 %H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1234440" cy="82296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9326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Vib. AT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0" y="1143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6.32 mm/s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1234440" cy="82296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9326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 AT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0" y="1143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43.2 C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0" y="914400"/>
            <a:ext cx="1234440" cy="82296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9326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Lum. LE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0" y="1143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lux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0" y="914400"/>
            <a:ext cx="1234440" cy="82296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9326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 LE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0" y="1143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31.7 C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1920240"/>
            <a:ext cx="3931920" cy="118872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1920240"/>
            <a:ext cx="64008" cy="1188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couleur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22860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 : Valeur dans la norme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: Seuil depasse - alerte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Jaune : Approche du seuil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1920240"/>
            <a:ext cx="3931920" cy="118872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1920240"/>
            <a:ext cx="64008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panels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0" y="22860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: Derniere valeur en grand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: Courbe historique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: Jauge avec zones colorees</a:t>
            </a:r>
            <a:endParaRPr lang="en-US" sz="11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457200" y="3291840"/>
          <a:ext cx="3931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Shape 29"/>
          <p:cNvSpPr/>
          <p:nvPr/>
        </p:nvSpPr>
        <p:spPr>
          <a:xfrm>
            <a:off x="4754880" y="3291840"/>
            <a:ext cx="3931920" cy="164592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754880" y="3291840"/>
            <a:ext cx="64008" cy="1645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1"/>
          <p:cNvSpPr/>
          <p:nvPr/>
        </p:nvSpPr>
        <p:spPr>
          <a:xfrm>
            <a:off x="4983480" y="3337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as Code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983480" y="3611880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 InfluxDB auto-configuree via YAML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JSON 16+ panels pre-charges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Requetes Flux vers bucket 'sensors'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Rafraichissement auto toutes les 5 secondes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configuration manuelle requise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LIVE : NODE-RED FLOWS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0" y="182880"/>
            <a:ext cx="2011680" cy="41148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182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http://localhost:1880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2715768" cy="301752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777240"/>
            <a:ext cx="2715768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89611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Simulation Capteurs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188720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zones industrielles simulees en temps reel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463040"/>
            <a:ext cx="914400" cy="1828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54480"/>
            <a:ext cx="24414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(5s/2s/10s) → Function JS → MQTT Out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zone genere des donnees JSON avec bruit aleatoire, derive progressive et evenements aleatoires (spikes, coupures).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status sous les noeuds montrent les valeurs en direct.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520440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noeuds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55848" y="777240"/>
            <a:ext cx="2715768" cy="301752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55848" y="777240"/>
            <a:ext cx="2715768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3493008" y="89611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Ingestion InfluxDB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93008" y="1188720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MQTT vers base de donnees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93008" y="1463040"/>
            <a:ext cx="914400" cy="1828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3493008" y="1554480"/>
            <a:ext cx="24414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In (iot/+/data) → Function (formatage) → InfluxDB Out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wildcard '+' capture toutes les zones. La function transforme le JSON en format [fields, tags] compatible InfluxDB 2.x.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Measurement: capteurs_industriels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93008" y="3520440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noeuds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54496" y="777240"/>
            <a:ext cx="2715768" cy="301752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54496" y="777240"/>
            <a:ext cx="2715768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391656" y="89611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Automatisation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91656" y="1188720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regles d'alerte avec actions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91656" y="1463040"/>
            <a:ext cx="914400" cy="182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391656" y="1554480"/>
            <a:ext cx="24414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In → Switch (seuil) → Function (alerte) → MQTT Out x2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regle publie sur alertes/{zone}/{type} (QoS 2) et actions/{actionneur} (QoS 1).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panneau Debug pour voir les alertes en direct.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91656" y="3520440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noeuds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153144" y="777240"/>
            <a:ext cx="2715768" cy="301752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53144" y="777240"/>
            <a:ext cx="2715768" cy="457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9" name="Text 27"/>
          <p:cNvSpPr/>
          <p:nvPr/>
        </p:nvSpPr>
        <p:spPr>
          <a:xfrm>
            <a:off x="9290304" y="89611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Notifications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90304" y="1188720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&amp; Email en temps reel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290304" y="1463040"/>
            <a:ext cx="914400" cy="1828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2" name="Text 30"/>
          <p:cNvSpPr/>
          <p:nvPr/>
        </p:nvSpPr>
        <p:spPr>
          <a:xfrm>
            <a:off x="9290304" y="1554480"/>
            <a:ext cx="24414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In (alertes/#) → Format Telegram → HTTP POST Bot 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→ Format Email HTML → Gmail SMTP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Anti-spam : cooldown 5 min Telegram / 10 min Email.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dans .env : TELEGRAM_BOT_TOKEN, EMAIL_FROM/TO/PASS.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recue en moins de 2 secondes apres alerte.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290304" y="3520440"/>
            <a:ext cx="2441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noeuds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977640"/>
            <a:ext cx="822960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3977640"/>
            <a:ext cx="82296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DE DEMONSTRATION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" y="432511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Onglet Simulation : montrer les valeurs en direct sous les noeuds (pastilles vertes = connecte)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Onglet Automatisation : panneau Debug → alertes CRITIQUE/WARNING en temps reel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Onglet Notifications : montrer le message Telegram recu sur le telephone (&lt; 2 secondes)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LIVE : INFLUXDB DATA EXPLORER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0" y="182880"/>
            <a:ext cx="2011680" cy="4114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182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http://localhost:8086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777240"/>
          <a:ext cx="39319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754880" y="777240"/>
          <a:ext cx="39319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2788920"/>
            <a:ext cx="3931920" cy="214884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57200" y="2788920"/>
            <a:ext cx="64008" cy="2148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6"/>
          <p:cNvSpPr/>
          <p:nvPr/>
        </p:nvSpPr>
        <p:spPr>
          <a:xfrm>
            <a:off x="73152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InfluxDB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3108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/ Hackathon2026Secure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31520" y="33375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: hackathon-iot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: sensors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: 30 jours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: capteurs_industriels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: zone (atelier, local-electrique, salle-serveur)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: temperature, humidite, vibration, luminosite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0" y="2788920"/>
            <a:ext cx="3931920" cy="21488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93776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Requete Flux - Data Explorer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937760" y="31546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from(bucket: "sensors")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|&gt; range(start: -1h)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|&gt; filter(fn: (r) =&gt;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r._measurement ==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"capteurs_industriels")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|&gt; filter(fn: (r) =&gt;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r._field == "temperature")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|&gt; aggregateWindow(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every: 5m, fn: mean)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EN CONDITIONS REELLES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713232"/>
            <a:ext cx="2286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046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 4h+ de fonctionnement continu — derive progressive observee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Demarrage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normales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249424" y="1143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49424" y="13258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Legere derive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montante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858768" y="1143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58768" y="13258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WARNING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Serveur 28C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468112" y="1143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T+3h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68112" y="13258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Atelier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&gt; 5mm/s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077456" y="1143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T+4h+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77456" y="13258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alertes CRITIQUE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Actives simultanement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57200" y="1691640"/>
            <a:ext cx="1938528" cy="2103120"/>
          </a:xfrm>
          <a:prstGeom prst="rect">
            <a:avLst/>
          </a:prstGeom>
          <a:solidFill>
            <a:srgbClr val="5C0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1691640"/>
            <a:ext cx="1938528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1801368"/>
            <a:ext cx="1755648" cy="292608"/>
          </a:xfrm>
          <a:prstGeom prst="rect">
            <a:avLst/>
          </a:prstGeom>
          <a:solidFill>
            <a:srgbClr val="F43F5E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180136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214884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233172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251460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41.2 C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" y="2834640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: 40 C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" y="3017520"/>
            <a:ext cx="1755648" cy="18288"/>
          </a:xfrm>
          <a:prstGeom prst="rect">
            <a:avLst/>
          </a:prstGeom>
          <a:solidFill>
            <a:srgbClr val="F43F5E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06324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Arret machine declenche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8640" y="326440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alertes/atelier/temperature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542032" y="1691640"/>
            <a:ext cx="1938528" cy="2103120"/>
          </a:xfrm>
          <a:prstGeom prst="rect">
            <a:avLst/>
          </a:prstGeom>
          <a:solidFill>
            <a:srgbClr val="5C0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42032" y="1691640"/>
            <a:ext cx="1938528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0" name="Shape 28"/>
          <p:cNvSpPr/>
          <p:nvPr/>
        </p:nvSpPr>
        <p:spPr>
          <a:xfrm>
            <a:off x="2633472" y="1801368"/>
            <a:ext cx="1755648" cy="292608"/>
          </a:xfrm>
          <a:prstGeom prst="rect">
            <a:avLst/>
          </a:prstGeom>
          <a:solidFill>
            <a:srgbClr val="F43F5E">
              <a:alpha val="2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633472" y="180136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33472" y="214884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633472" y="233172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33472" y="251460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 mm/s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633472" y="2834640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: 5.0 mm/s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633472" y="3017520"/>
            <a:ext cx="1755648" cy="18288"/>
          </a:xfrm>
          <a:prstGeom prst="rect">
            <a:avLst/>
          </a:prstGeom>
          <a:solidFill>
            <a:srgbClr val="F43F5E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633472" y="306324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Arret machine declenche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633472" y="326440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alertes/atelier/vibration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626864" y="1691640"/>
            <a:ext cx="1938528" cy="2103120"/>
          </a:xfrm>
          <a:prstGeom prst="rect">
            <a:avLst/>
          </a:prstGeom>
          <a:solidFill>
            <a:srgbClr val="5C0A1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26864" y="1691640"/>
            <a:ext cx="1938528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1" name="Shape 39"/>
          <p:cNvSpPr/>
          <p:nvPr/>
        </p:nvSpPr>
        <p:spPr>
          <a:xfrm>
            <a:off x="4718304" y="1801368"/>
            <a:ext cx="1755648" cy="292608"/>
          </a:xfrm>
          <a:prstGeom prst="rect">
            <a:avLst/>
          </a:prstGeom>
          <a:solidFill>
            <a:srgbClr val="F43F5E">
              <a:alpha val="2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718304" y="180136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718304" y="214884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SERVEUR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18304" y="233172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18304" y="251460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32.0 C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4718304" y="2834640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: 28 C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18304" y="3017520"/>
            <a:ext cx="1755648" cy="18288"/>
          </a:xfrm>
          <a:prstGeom prst="rect">
            <a:avLst/>
          </a:prstGeom>
          <a:solidFill>
            <a:srgbClr val="F43F5E">
              <a:alpha val="5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718304" y="306324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Ventilation activee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18304" y="326440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alertes/salle-serveur/temperature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711696" y="1691640"/>
            <a:ext cx="1938528" cy="2103120"/>
          </a:xfrm>
          <a:prstGeom prst="rect">
            <a:avLst/>
          </a:prstGeom>
          <a:solidFill>
            <a:srgbClr val="064E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711696" y="1691640"/>
            <a:ext cx="1938528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2" name="Shape 50"/>
          <p:cNvSpPr/>
          <p:nvPr/>
        </p:nvSpPr>
        <p:spPr>
          <a:xfrm>
            <a:off x="6803136" y="1801368"/>
            <a:ext cx="1755648" cy="292608"/>
          </a:xfrm>
          <a:prstGeom prst="rect">
            <a:avLst/>
          </a:prstGeom>
          <a:solidFill>
            <a:srgbClr val="2DD4BF">
              <a:alpha val="2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803136" y="180136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803136" y="214884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ELEC.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03136" y="233172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803136" y="251460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33.5 C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6803136" y="2834640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: 35 C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803136" y="3017520"/>
            <a:ext cx="1755648" cy="18288"/>
          </a:xfrm>
          <a:prstGeom prst="rect">
            <a:avLst/>
          </a:prstGeom>
          <a:solidFill>
            <a:srgbClr val="2DD4BF">
              <a:alpha val="5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803136" y="306324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action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803136" y="326440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57200" y="3931920"/>
            <a:ext cx="8229600" cy="100584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57200" y="3931920"/>
            <a:ext cx="82296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3" name="Text 61"/>
          <p:cNvSpPr/>
          <p:nvPr/>
        </p:nvSpPr>
        <p:spPr>
          <a:xfrm>
            <a:off x="731520" y="40050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ca demontre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1520" y="42519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IoT complet fonctionne de bout en bout en conditions reelles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derive progressive simule fidelement une montee en charge industrielle (+7C sur l'atelier en 4h)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automatisations reagissent en temps reel (&lt; 2s apres depassement de seuil)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DIFFICULTES &amp; 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Bash path conversion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MSYS_NO_PATHCONV=1 pour les commandes Docker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54480"/>
            <a:ext cx="54864" cy="4572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'Duplicate password_file'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password_file en scope global (pas par listener)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10312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:ro bloque Mosquitto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Retrait du flag :ro sur config/certs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651760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node-red-contrib-influxdb absent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0" y="2697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npm install dans le conteneur Node-RED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200400"/>
            <a:ext cx="54864" cy="4572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 format donnees InfluxDB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Format [fields, tags] au lieu de [{measurement}]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74904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datasource non trouvee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8912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Remplacement template var par UID fixe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4297680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TLS -subj Git Bash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89120" y="4343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Format //C=FR\ST=IDF avec double-slash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difficulte a ete documentee et resolue methodiquement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EVOLUTIONS POSSIBLES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715768" cy="347472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715768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9144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 controle actionneurs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historique alertes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depuis Grafana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55848" y="1097280"/>
            <a:ext cx="2715768" cy="347472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5848" y="1097280"/>
            <a:ext cx="271576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538728" y="128016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538728" y="1691640"/>
            <a:ext cx="91440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538728" y="192024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reels (ESP32 + DHT22)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38728" y="274320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anomalies par ML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38728" y="356616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disponibilite InfluxDB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4496" y="1097280"/>
            <a:ext cx="2715768" cy="347472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54496" y="1097280"/>
            <a:ext cx="2715768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6437376" y="128016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37376" y="1691640"/>
            <a:ext cx="914400" cy="2743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3" name="Text 21"/>
          <p:cNvSpPr/>
          <p:nvPr/>
        </p:nvSpPr>
        <p:spPr>
          <a:xfrm>
            <a:off x="6437376" y="192024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cloud (AWS / Azure IoT)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37376" y="274320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ERP maintenance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37376" y="356616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Jumeaux numeriques equipements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objectifs du cahier des charges atteints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715768" cy="100584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1417320"/>
            <a:ext cx="2715768" cy="100584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14630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270248" y="1554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reel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4496" y="1417320"/>
            <a:ext cx="2715768" cy="100584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54496" y="14630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168896" y="1554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d'automatisation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2715768" cy="100584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6517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371600" y="2743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55848" y="2606040"/>
            <a:ext cx="2715768" cy="100584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55848" y="26517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270248" y="2743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54496" y="2606040"/>
            <a:ext cx="2715768" cy="100584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54496" y="26517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168896" y="2743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deployer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594360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39319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Edge-Fog-Cloud complete et fonctionnelle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 multicouche : TLS 1.2 + Auth + ACL + Secrets .env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modulaire, documentee et prete a evoluer vers des capteurs reels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0" y="3886200"/>
            <a:ext cx="2103120" cy="1005840"/>
          </a:xfrm>
          <a:prstGeom prst="rect">
            <a:avLst/>
          </a:prstGeom>
          <a:solidFill>
            <a:srgbClr val="162D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83680" y="3886200"/>
            <a:ext cx="210312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3977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42245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Abder541/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Hackathon-2026-IoT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0"/>
            <a:ext cx="9144000" cy="2560320"/>
          </a:xfrm>
          <a:prstGeom prst="rect">
            <a:avLst/>
          </a:prstGeom>
          <a:solidFill>
            <a:srgbClr val="122A45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3200400" y="233172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68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01 - Hackathon IoT 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Satom IT &amp; Learning Solutions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4114800"/>
            <a:ext cx="6400800" cy="731520"/>
          </a:xfrm>
          <a:prstGeom prst="rect">
            <a:avLst/>
          </a:prstGeom>
          <a:solidFill>
            <a:srgbClr val="162D4A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Node-RED :1880  |  Grafana :3000  |  InfluxDB :8086  |  MQTT :1883 / :8883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4480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Supervision IoT Industrielle - Hackathon 2026</dc:title>
  <dc:subject>PptxGenJS Presentation</dc:subject>
  <dc:creator>Equipe 01 - Hackathon IoT 2026</dc:creator>
  <cp:lastModifiedBy>Equipe 01 - Hackathon IoT 2026</cp:lastModifiedBy>
  <cp:revision>1</cp:revision>
  <dcterms:created xsi:type="dcterms:W3CDTF">2026-03-20T09:01:43Z</dcterms:created>
  <dcterms:modified xsi:type="dcterms:W3CDTF">2026-03-20T09:01:43Z</dcterms:modified>
</cp:coreProperties>
</file>